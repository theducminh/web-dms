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1887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E600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VIETTEL DIGITAL TALENT 2026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6916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— Demo Final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246888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VDT Zero-Trust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914400" y="333756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Management System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914400" y="4389120"/>
            <a:ext cx="3657600" cy="0"/>
          </a:xfrm>
          <a:prstGeom prst="line">
            <a:avLst/>
          </a:prstGeom>
          <a:noFill/>
          <a:ln w="38100">
            <a:solidFill>
              <a:srgbClr val="E6001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45720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quản lý tài liệu dự án theo mô hình Zero-Trust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5029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SSE-S3  ·  ABAC + Casbin  ·  Hash Chaining  ·  TLS 1.3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5943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Phiên bản 1.0  —  06/2026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Nội dung trình bày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phần · ~15 phút demo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411480"/>
            <a:ext cx="73152" cy="457200"/>
          </a:xfrm>
          <a:prstGeom prst="rect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00200"/>
            <a:ext cx="731520" cy="731520"/>
          </a:xfrm>
          <a:prstGeom prst="ellipse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00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54480" y="15544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Bối cảnh và Vấn đề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011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SSOT, phân quyền, tampering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09360" y="1600200"/>
            <a:ext cx="731520" cy="731520"/>
          </a:xfrm>
          <a:prstGeom prst="ellipse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9360" y="1600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223760" y="15544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Mục tiêu Hệ thống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223760" y="2011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mục tiêu Zero-Trust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2788920"/>
            <a:ext cx="731520" cy="731520"/>
          </a:xfrm>
          <a:prstGeom prst="ellipse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7889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554480" y="27432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Kiến trúc + Tech Stack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554480" y="3200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lớp, 13 công nghệ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309360" y="2788920"/>
            <a:ext cx="731520" cy="731520"/>
          </a:xfrm>
          <a:prstGeom prst="ellipse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0" y="27889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223760" y="27432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Luồng Nghiệp vụ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223760" y="3200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Auth, Project, Doc, Security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" y="3977640"/>
            <a:ext cx="731520" cy="731520"/>
          </a:xfrm>
          <a:prstGeom prst="ellipse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977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554480" y="39319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Cơ chế Bảo mật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554480" y="4389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ABAC, Hash Chain, SSE-S3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309360" y="3977640"/>
            <a:ext cx="731520" cy="731520"/>
          </a:xfrm>
          <a:prstGeom prst="ellipse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09360" y="3977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7223760" y="39319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&amp; Microservice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223760" y="4389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FSM, Diff Engine, BullMQ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40080" y="5166360"/>
            <a:ext cx="731520" cy="731520"/>
          </a:xfrm>
          <a:prstGeom prst="ellipse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51663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1554480" y="51206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Triển khai 1-lệnh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554480" y="5577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Compose, Supabase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309360" y="5166360"/>
            <a:ext cx="731520" cy="731520"/>
          </a:xfrm>
          <a:prstGeom prst="ellipse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09360" y="51663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7223760" y="51206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luận &amp; Q&amp;A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7223760" y="5577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 đạt, hướng phát triển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VDT Zero-Trust DMS  ·  Capstone 2026  ·  Slide 2/25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Bối cảnh và Vấn đề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tài liệu dự án trong tập đoàn lớn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411480"/>
            <a:ext cx="73152" cy="457200"/>
          </a:xfrm>
          <a:prstGeom prst="rect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554480"/>
            <a:ext cx="54864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554480"/>
            <a:ext cx="73152" cy="1234440"/>
          </a:xfrm>
          <a:prstGeom prst="rect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🔀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554480" y="16916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Mất Single Source of Truth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54480" y="210312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Cùng 1 tài liệu phát tán dưới nhiều tên trên Google Drive cá nhân, email, chat...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2971800"/>
            <a:ext cx="54864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" y="2971800"/>
            <a:ext cx="73152" cy="1234440"/>
          </a:xfrm>
          <a:prstGeom prst="rect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3063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🔓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554480" y="31089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kiểm soát phân quyền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554480" y="352044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Tài liệu CONFIDENTIAL có thể bị tải bởi user không đủ clearance; không có audit chống chối bỏ.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4389120"/>
            <a:ext cx="54864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" y="4389120"/>
            <a:ext cx="73152" cy="1234440"/>
          </a:xfrm>
          <a:prstGeom prst="rect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4480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⚠️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1554480" y="45262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phát hiện tampering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554480" y="493776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Kẻ tấn công có quyền DB có thể sửa lén audit log mà không có cơ chế cảnh báo.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858000" y="1554480"/>
            <a:ext cx="4846320" cy="4480560"/>
          </a:xfrm>
          <a:prstGeom prst="rect">
            <a:avLst/>
          </a:prstGeom>
          <a:solidFill>
            <a:srgbClr val="0F2A4D"/>
          </a:solidFill>
          <a:ln w="12700">
            <a:solidFill>
              <a:srgbClr val="0F2A4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40880" y="1554480"/>
            <a:ext cx="914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0" b="1" dirty="0">
                <a:solidFill>
                  <a:srgbClr val="E600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endParaRPr lang="en-US" sz="10000" dirty="0"/>
          </a:p>
        </p:txBody>
      </p:sp>
      <p:sp>
        <p:nvSpPr>
          <p:cNvPr id="22" name="Text 20"/>
          <p:cNvSpPr/>
          <p:nvPr/>
        </p:nvSpPr>
        <p:spPr>
          <a:xfrm>
            <a:off x="7315200" y="2743200"/>
            <a:ext cx="42976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Hệ thống cần một SSOT chính thức + Zero-Trust enforcement + Tamper-evident audit để giải quyết đồng thời 3 vấn đề trên.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315200" y="502920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Yêu cầu nghiệp vụ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VDT Zero-Trust DMS  ·  Capstone 2026  ·  Slide 3/25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Mục tiêu Hệ thống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trụ cột Zero-Trust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411480"/>
            <a:ext cx="73152" cy="457200"/>
          </a:xfrm>
          <a:prstGeom prst="rect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554480"/>
            <a:ext cx="361188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1828800"/>
            <a:ext cx="822960" cy="822960"/>
          </a:xfrm>
          <a:prstGeom prst="ellipse">
            <a:avLst/>
          </a:prstGeom>
          <a:solidFill>
            <a:srgbClr val="0F2A4D"/>
          </a:solidFill>
          <a:ln w="12700">
            <a:solidFill>
              <a:srgbClr val="0F2A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8288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📋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828800" y="18745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SSOT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914400" y="274320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DRAFT → UNDER_REVIEW → RELEASED → ARCHIVED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434840" y="1554480"/>
            <a:ext cx="361188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828800"/>
            <a:ext cx="822960" cy="822960"/>
          </a:xfrm>
          <a:prstGeom prst="ellipse">
            <a:avLst/>
          </a:prstGeom>
          <a:solidFill>
            <a:srgbClr val="0F2A4D"/>
          </a:solidFill>
          <a:ln w="12700">
            <a:solidFill>
              <a:srgbClr val="0F2A4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18288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🛡️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5623560" y="18745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Zero-Trust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4709160" y="274320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Mọi request qua JWT + ABAC bất kể nguồn gốc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29600" y="1554480"/>
            <a:ext cx="361188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503920" y="1828800"/>
            <a:ext cx="822960" cy="822960"/>
          </a:xfrm>
          <a:prstGeom prst="ellipse">
            <a:avLst/>
          </a:prstGeom>
          <a:solidFill>
            <a:srgbClr val="0F2A4D"/>
          </a:solidFill>
          <a:ln w="12700">
            <a:solidFill>
              <a:srgbClr val="0F2A4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03920" y="18288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🔐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9418320" y="18745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SSE-S3 AES-256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8503920" y="274320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 hóa server-side cho mọi file (NFR-1.2)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3749040"/>
            <a:ext cx="361188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14400" y="4023360"/>
            <a:ext cx="822960" cy="822960"/>
          </a:xfrm>
          <a:prstGeom prst="ellipse">
            <a:avLst/>
          </a:prstGeom>
          <a:solidFill>
            <a:srgbClr val="0F2A4D"/>
          </a:solidFill>
          <a:ln w="12700">
            <a:solidFill>
              <a:srgbClr val="0F2A4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40233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⛓️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1828800" y="40690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Chain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914400" y="493776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logs SHA-256 chuỗi xích + append-only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434840" y="3749040"/>
            <a:ext cx="361188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09160" y="4023360"/>
            <a:ext cx="822960" cy="822960"/>
          </a:xfrm>
          <a:prstGeom prst="ellipse">
            <a:avLst/>
          </a:prstGeom>
          <a:solidFill>
            <a:srgbClr val="0F2A4D"/>
          </a:solidFill>
          <a:ln w="12700">
            <a:solidFill>
              <a:srgbClr val="0F2A4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09160" y="40233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🚀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5623560" y="40690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1-lệnh deploy</a:t>
            </a:r>
            <a:endParaRPr lang="en-US" sz="1900" dirty="0"/>
          </a:p>
        </p:txBody>
      </p:sp>
      <p:sp>
        <p:nvSpPr>
          <p:cNvPr id="29" name="Text 27"/>
          <p:cNvSpPr/>
          <p:nvPr/>
        </p:nvSpPr>
        <p:spPr>
          <a:xfrm>
            <a:off x="4709160" y="493776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7 service (NFR-3.2)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229600" y="3749040"/>
            <a:ext cx="361188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503920" y="4023360"/>
            <a:ext cx="822960" cy="822960"/>
          </a:xfrm>
          <a:prstGeom prst="ellipse">
            <a:avLst/>
          </a:prstGeom>
          <a:solidFill>
            <a:srgbClr val="0F2A4D"/>
          </a:solidFill>
          <a:ln w="12700">
            <a:solidFill>
              <a:srgbClr val="0F2A4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503920" y="40233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✅</a:t>
            </a:r>
            <a:endParaRPr lang="en-US" sz="3000" dirty="0"/>
          </a:p>
        </p:txBody>
      </p:sp>
      <p:sp>
        <p:nvSpPr>
          <p:cNvPr id="33" name="Text 31"/>
          <p:cNvSpPr/>
          <p:nvPr/>
        </p:nvSpPr>
        <p:spPr>
          <a:xfrm>
            <a:off x="9418320" y="40690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FSM Workflow</a:t>
            </a:r>
            <a:endParaRPr lang="en-US" sz="1900" dirty="0"/>
          </a:p>
        </p:txBody>
      </p:sp>
      <p:sp>
        <p:nvSpPr>
          <p:cNvPr id="34" name="Text 32"/>
          <p:cNvSpPr/>
          <p:nvPr/>
        </p:nvSpPr>
        <p:spPr>
          <a:xfrm>
            <a:off x="8503920" y="493776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Approve/Reject + Append-only versioning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VDT Zero-Trust DMS  ·  Capstone 2026  ·  Slide 4/25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03a · Kiến trúc 4 lớp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Monolith hướng Event-Driven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411480"/>
            <a:ext cx="73152" cy="457200"/>
          </a:xfrm>
          <a:prstGeom prst="rect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554480"/>
            <a:ext cx="10332720" cy="10058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97280" y="16916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97280" y="210312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Vite + Tailwind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080760" y="2560320"/>
            <a:ext cx="0" cy="13716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914400" y="2697480"/>
            <a:ext cx="10332720" cy="1005840"/>
          </a:xfrm>
          <a:prstGeom prst="rect">
            <a:avLst/>
          </a:prstGeom>
          <a:solidFill>
            <a:srgbClr val="0F2A4D"/>
          </a:solidFill>
          <a:ln w="12700">
            <a:solidFill>
              <a:srgbClr val="0F2A4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97280" y="28346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097280" y="324612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1.27 — TLS 1.3 + rate-limit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080760" y="3703320"/>
            <a:ext cx="0" cy="13716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914400" y="3840480"/>
            <a:ext cx="10332720" cy="1005840"/>
          </a:xfrm>
          <a:prstGeom prst="rect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097280" y="39776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097280" y="438912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NestJS 10 (api + worker) + Python FastAPI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080760" y="4846320"/>
            <a:ext cx="0" cy="13716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14400" y="4983480"/>
            <a:ext cx="10332720" cy="10058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097280" y="51206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097280" y="553212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PostgreSQL + Redis + MinIO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VDT Zero-Trust DMS  ·  Capstone 2026  ·  Slide 5/25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03b · Tech Stack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công nghệ cốt lõi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411480"/>
            <a:ext cx="73152" cy="457200"/>
          </a:xfrm>
          <a:prstGeom prst="rect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554480"/>
            <a:ext cx="54406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554480"/>
            <a:ext cx="91440" cy="9144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6459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20116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React 18 · Vite 5 · TypeScript · Tailwind 3 · zustand · react-query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63640" y="1554480"/>
            <a:ext cx="54406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63640" y="1554480"/>
            <a:ext cx="91440" cy="9144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16459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37960" y="20116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NestJS 10 · Prisma 5 · Node-Casbin · BullMQ 5 · AWS SDK v3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2651760"/>
            <a:ext cx="54406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651760"/>
            <a:ext cx="91440" cy="9144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27432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14400" y="31089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PostgreSQL 16 (Supabase) · Partition + Trigger + JSONB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63640" y="2651760"/>
            <a:ext cx="54406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63640" y="2651760"/>
            <a:ext cx="91440" cy="9144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27432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537960" y="31089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MinIO S3-compatible · SSE-S3 AES-256 · Presigned URL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3749040"/>
            <a:ext cx="54406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" y="3749040"/>
            <a:ext cx="91440" cy="9144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38404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Cache/Queue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14400" y="42062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Redis 7 · BullMQ 4 queues (extract / mailer / archive / scan)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63640" y="3749040"/>
            <a:ext cx="54406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63640" y="3749040"/>
            <a:ext cx="91440" cy="9144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37960" y="38404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537960" y="42062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3.11 + FastAPI + difflib (Diff Engine)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0080" y="4846320"/>
            <a:ext cx="54406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0080" y="4846320"/>
            <a:ext cx="91440" cy="9144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4400" y="49377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914400" y="530352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Nginx 1.27-alpine · TLS 1.3 enforced · 2 rate-limit zones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263640" y="4846320"/>
            <a:ext cx="54406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263640" y="4846320"/>
            <a:ext cx="91440" cy="9144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37960" y="49377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6537960" y="530352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v2 · Self-signed cert · Makefile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VDT Zero-Trust DMS  ·  Capstone 2026  ·  Slide 6/25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03c · Mô hình Dữ liệu (ERD)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bảng + 8 enum + 12 partition audit_logs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411480"/>
            <a:ext cx="73152" cy="457200"/>
          </a:xfrm>
          <a:prstGeom prst="rect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54480"/>
            <a:ext cx="356616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0F2A4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554480"/>
            <a:ext cx="3566160" cy="365760"/>
          </a:xfrm>
          <a:prstGeom prst="rect">
            <a:avLst/>
          </a:prstGeom>
          <a:solidFill>
            <a:srgbClr val="0F2A4D"/>
          </a:solidFill>
          <a:ln w="12700">
            <a:solidFill>
              <a:srgbClr val="0F2A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5544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departments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196596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phòng ban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97680" y="1554480"/>
            <a:ext cx="356616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0F2A4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97680" y="1554480"/>
            <a:ext cx="3566160" cy="365760"/>
          </a:xfrm>
          <a:prstGeom prst="rect">
            <a:avLst/>
          </a:prstGeom>
          <a:solidFill>
            <a:srgbClr val="0F2A4D"/>
          </a:solidFill>
          <a:ln w="12700">
            <a:solidFill>
              <a:srgbClr val="0F2A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0" y="15544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profiles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389120" y="196596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user · ABAC attrs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046720" y="1554480"/>
            <a:ext cx="356616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0F2A4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46720" y="1554480"/>
            <a:ext cx="3566160" cy="365760"/>
          </a:xfrm>
          <a:prstGeom prst="rect">
            <a:avLst/>
          </a:prstGeom>
          <a:solidFill>
            <a:srgbClr val="0F2A4D"/>
          </a:solidFill>
          <a:ln w="12700">
            <a:solidFill>
              <a:srgbClr val="0F2A4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38160" y="15544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casbin_rule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138160" y="196596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ABAC engine policies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2651760"/>
            <a:ext cx="356616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0F2A4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2651760"/>
            <a:ext cx="3566160" cy="365760"/>
          </a:xfrm>
          <a:prstGeom prst="rect">
            <a:avLst/>
          </a:prstGeom>
          <a:solidFill>
            <a:srgbClr val="0F2A4D"/>
          </a:solidFill>
          <a:ln w="12700">
            <a:solidFill>
              <a:srgbClr val="0F2A4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26517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306324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Dự án · status FSM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297680" y="2651760"/>
            <a:ext cx="356616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0F2A4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297680" y="2651760"/>
            <a:ext cx="3566160" cy="365760"/>
          </a:xfrm>
          <a:prstGeom prst="rect">
            <a:avLst/>
          </a:prstGeom>
          <a:solidFill>
            <a:srgbClr val="0F2A4D"/>
          </a:solidFill>
          <a:ln w="12700">
            <a:solidFill>
              <a:srgbClr val="0F2A4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89120" y="26517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project_members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389120" y="306324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N-N composite PK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046720" y="2651760"/>
            <a:ext cx="356616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0F2A4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046720" y="2651760"/>
            <a:ext cx="3566160" cy="365760"/>
          </a:xfrm>
          <a:prstGeom prst="rect">
            <a:avLst/>
          </a:prstGeom>
          <a:solidFill>
            <a:srgbClr val="0F2A4D"/>
          </a:solidFill>
          <a:ln w="12700">
            <a:solidFill>
              <a:srgbClr val="0F2A4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138160" y="26517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user_project_pref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138160" y="306324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Ghim dự án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3749040"/>
            <a:ext cx="356616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0F2A4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8640" y="3749040"/>
            <a:ext cx="3566160" cy="365760"/>
          </a:xfrm>
          <a:prstGeom prst="rect">
            <a:avLst/>
          </a:prstGeom>
          <a:solidFill>
            <a:srgbClr val="0F2A4D"/>
          </a:solidFill>
          <a:ln w="12700">
            <a:solidFill>
              <a:srgbClr val="0F2A4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37490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folders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40080" y="416052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Self-recursive parent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297680" y="3749040"/>
            <a:ext cx="356616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0F2A4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297680" y="3749040"/>
            <a:ext cx="3566160" cy="365760"/>
          </a:xfrm>
          <a:prstGeom prst="rect">
            <a:avLst/>
          </a:prstGeom>
          <a:solidFill>
            <a:srgbClr val="0F2A4D"/>
          </a:solidFill>
          <a:ln w="12700">
            <a:solidFill>
              <a:srgbClr val="0F2A4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389120" y="37490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389120" y="416052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Pessimistic Lock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8046720" y="3749040"/>
            <a:ext cx="356616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0F2A4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046720" y="3749040"/>
            <a:ext cx="3566160" cy="365760"/>
          </a:xfrm>
          <a:prstGeom prst="rect">
            <a:avLst/>
          </a:prstGeom>
          <a:solidFill>
            <a:srgbClr val="0F2A4D"/>
          </a:solidFill>
          <a:ln w="12700">
            <a:solidFill>
              <a:srgbClr val="0F2A4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138160" y="37490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document_versions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8138160" y="416052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 history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48640" y="4846320"/>
            <a:ext cx="356616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0F2A4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48640" y="4846320"/>
            <a:ext cx="3566160" cy="365760"/>
          </a:xfrm>
          <a:prstGeom prst="rect">
            <a:avLst/>
          </a:prstGeom>
          <a:solidFill>
            <a:srgbClr val="0F2A4D"/>
          </a:solidFill>
          <a:ln w="12700">
            <a:solidFill>
              <a:srgbClr val="0F2A4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0080" y="48463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releases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40080" y="525780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snapshot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297680" y="4846320"/>
            <a:ext cx="356616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0F2A4D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297680" y="4846320"/>
            <a:ext cx="3566160" cy="365760"/>
          </a:xfrm>
          <a:prstGeom prst="rect">
            <a:avLst/>
          </a:prstGeom>
          <a:solidFill>
            <a:srgbClr val="0F2A4D"/>
          </a:solidFill>
          <a:ln w="12700">
            <a:solidFill>
              <a:srgbClr val="0F2A4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389120" y="48463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project_templates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4389120" y="525780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template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8046720" y="4846320"/>
            <a:ext cx="356616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0F2A4D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046720" y="4846320"/>
            <a:ext cx="3566160" cy="365760"/>
          </a:xfrm>
          <a:prstGeom prst="rect">
            <a:avLst/>
          </a:prstGeom>
          <a:solidFill>
            <a:srgbClr val="0F2A4D"/>
          </a:solidFill>
          <a:ln w="12700">
            <a:solidFill>
              <a:srgbClr val="0F2A4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138160" y="48463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template_folders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8138160" y="525780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Materialization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548640" y="5943600"/>
            <a:ext cx="11064240" cy="640080"/>
          </a:xfrm>
          <a:prstGeom prst="rect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40080" y="59436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audit_logs (PARTITION BY RANGE)  ·  12 monthly partitions  ·  Hash Chain trigger  ·  Append-only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VDT Zero-Trust DMS  ·  Capstone 2026  ·  Slide 7/25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26 Luồng Nghiệp vụ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cốt lõi + 1 bonus, chia 5 nhóm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411480"/>
            <a:ext cx="73152" cy="457200"/>
          </a:xfrm>
          <a:prstGeom prst="rect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54480"/>
            <a:ext cx="55321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554480"/>
            <a:ext cx="1188720" cy="13716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6459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01-06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94360" y="21488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Luồng 6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874520" y="164592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F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ACCESS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874520" y="2057400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· Register · Forgot · Dashboard · Profile · Security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1554480"/>
            <a:ext cx="55321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17920" y="1554480"/>
            <a:ext cx="1188720" cy="1371600"/>
          </a:xfrm>
          <a:prstGeom prst="rect">
            <a:avLst/>
          </a:prstGeom>
          <a:solidFill>
            <a:srgbClr val="0F2A4D"/>
          </a:solidFill>
          <a:ln w="12700">
            <a:solidFill>
              <a:srgbClr val="0F2A4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63640" y="16459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07-09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263640" y="21488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Luồng 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543800" y="164592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F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ADMIN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543800" y="2057400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Directory · Attribute Assignment · Departments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3108960"/>
            <a:ext cx="55321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3108960"/>
            <a:ext cx="1188720" cy="13716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32004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10-14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94360" y="37033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Luồng 5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874520" y="320040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F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 &amp; PROJECT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874520" y="3611880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· Create · Folder · Team · Settings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17920" y="3108960"/>
            <a:ext cx="55321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217920" y="3108960"/>
            <a:ext cx="1188720" cy="1371600"/>
          </a:xfrm>
          <a:prstGeom prst="rect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63640" y="32004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15-20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263640" y="37033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Luồng 6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543800" y="320040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F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CONTROL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543800" y="3611880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· Detail · Review · Diff · Release · Compliance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4663440"/>
            <a:ext cx="55321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48640" y="4663440"/>
            <a:ext cx="1188720" cy="13716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" y="47548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21-25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94360" y="52578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Luồng 5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874520" y="475488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F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COMPLIANCE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874520" y="5166360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· Builder · Audit Ledger · Export · Tamper Hub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217920" y="4663440"/>
            <a:ext cx="55321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217920" y="4663440"/>
            <a:ext cx="1188720" cy="13716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63640" y="47548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6263640" y="52578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Luồng 1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543800" y="475488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F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— TEMPLATES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7543800" y="5166360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Templates Master · Path Materialization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VDT Zero-Trust DMS  ·  Capstone 2026  ·  Slide 8/25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04a · Nhóm 1+2 — Identity Access + IAM Admin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luồng (01-09)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411480"/>
            <a:ext cx="73152" cy="457200"/>
          </a:xfrm>
          <a:prstGeom prst="rect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08760"/>
            <a:ext cx="110642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581912"/>
            <a:ext cx="320040" cy="3200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58191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97280" y="1554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Đăng nhập hợp nhất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389120" y="155448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Google SSO + brute-force lock 60s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039112"/>
            <a:ext cx="1106424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2112264"/>
            <a:ext cx="320040" cy="3200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11226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97280" y="208483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Đăng ký nhân viên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389120" y="208483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 6 chữ số + Strong password regex + status PENDING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2569464"/>
            <a:ext cx="110642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2642616"/>
            <a:ext cx="320040" cy="3200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264261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97280" y="261518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Quên mật khẩu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389120" y="2615184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 + revoke all sessions + generic message chống enumeration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099816"/>
            <a:ext cx="1106424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" y="3172968"/>
            <a:ext cx="320040" cy="3200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1729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97280" y="314553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389120" y="3145536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 cards · doc đang giữ khóa · trả khóa inline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3630168"/>
            <a:ext cx="110642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" y="3703320"/>
            <a:ext cx="320040" cy="3200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37033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97280" y="367588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Hồ sơ cá nhân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389120" y="3675888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Gate Modal · 3 fail → lock 60s · Adaptive Auth LOCAL/GOOGLE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" y="4160520"/>
            <a:ext cx="1106424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0080" y="4233672"/>
            <a:ext cx="320040" cy="3200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" y="423367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097280" y="42062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toàn tài khoản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389120" y="420624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password · Session list · Panic Button revoke others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48640" y="4690872"/>
            <a:ext cx="110642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0080" y="4764024"/>
            <a:ext cx="320040" cy="3200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" y="476402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097280" y="473659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Directory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389120" y="473659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debounce + Bulk Actions + Mass Session Eviction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48640" y="5221224"/>
            <a:ext cx="1106424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40080" y="5294376"/>
            <a:ext cx="320040" cy="3200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080" y="529437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1097280" y="526694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 Assignment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4389120" y="5266944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 Eviction + Audit Before/After + Clearance Escalation Warning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548640" y="5751576"/>
            <a:ext cx="110642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40080" y="5824728"/>
            <a:ext cx="320040" cy="3200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0080" y="58247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1097280" y="579729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Departments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4389120" y="5797296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Delete Guard + 409 P2002 unique validation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VDT Zero-Trust DMS  ·  Capstone 2026  ·  Slide 9/25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04b · Nhóm 3+4 — Workspace + Document Control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luồng (10-20)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411480"/>
            <a:ext cx="73152" cy="457200"/>
          </a:xfrm>
          <a:prstGeom prst="rect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463040"/>
            <a:ext cx="110642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508760"/>
            <a:ext cx="292608" cy="292608"/>
          </a:xfrm>
          <a:prstGeom prst="ellipse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5087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51560" y="148132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Portfolio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297680" y="1481328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grid · role/status badge · isStarred ghim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1920240"/>
            <a:ext cx="1106424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1965960"/>
            <a:ext cx="292608" cy="292608"/>
          </a:xfrm>
          <a:prstGeom prst="ellipse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19659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51560" y="193852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Khởi tạo Dự án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297680" y="1938528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Wizard 2 bước · ACID transaction · sinh folder + Casbin grouping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2377440"/>
            <a:ext cx="110642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2423160"/>
            <a:ext cx="292608" cy="292608"/>
          </a:xfrm>
          <a:prstGeom prst="ellipse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2423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51560" y="239572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Folder Navigator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297680" y="2395728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Breadcrumbs · subFolder 🔒/📁 · upload folder · empty file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2834640"/>
            <a:ext cx="1106424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" y="2880360"/>
            <a:ext cx="292608" cy="292608"/>
          </a:xfrm>
          <a:prstGeom prst="ellipse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28803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51560" y="285292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Team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297680" y="2852928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role dropdown · AddMemberModal · Self-Removal Protection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3291840"/>
            <a:ext cx="110642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" y="3337560"/>
            <a:ext cx="292608" cy="292608"/>
          </a:xfrm>
          <a:prstGeom prst="ellipse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3337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051560" y="331012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Settings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297680" y="3310128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Dirty state guard · Danger Zone Archive ("gõ tên xác nhận")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48640" y="3749040"/>
            <a:ext cx="1106424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0080" y="3794760"/>
            <a:ext cx="292608" cy="292608"/>
          </a:xfrm>
          <a:prstGeom prst="ellipse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" y="37947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051560" y="376732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Upload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297680" y="3767328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Dropzone 2/3 · progress KB/s thật · SSE-S3 + BullMQ extract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48640" y="4206240"/>
            <a:ext cx="110642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0080" y="4251960"/>
            <a:ext cx="292608" cy="292608"/>
          </a:xfrm>
          <a:prstGeom prst="ellipse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" y="42519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051560" y="422452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Detail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297680" y="4224528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tabs (Preview/Metadata/Versions) · Online editor · Lock 30s heartbeat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48640" y="4663440"/>
            <a:ext cx="1106424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40080" y="4709160"/>
            <a:ext cx="292608" cy="292608"/>
          </a:xfrm>
          <a:prstGeom prst="ellipse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080" y="4709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051560" y="468172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Review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297680" y="4681728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Split-screen · Reject ≥10 chars · Action Block Overlay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48640" y="5120640"/>
            <a:ext cx="110642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40080" y="5166360"/>
            <a:ext cx="292608" cy="292608"/>
          </a:xfrm>
          <a:prstGeom prst="ellipse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0080" y="51663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1051560" y="513892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Diff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4297680" y="5138928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↔ Text Diff toggle · difflib SequenceMatcher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548640" y="5577840"/>
            <a:ext cx="1106424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40080" y="5623560"/>
            <a:ext cx="292608" cy="292608"/>
          </a:xfrm>
          <a:prstGeom prst="ellipse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40080" y="5623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1051560" y="559612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Packages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4297680" y="5596128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Snapshot · compliance check BFS subtree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548640" y="6035040"/>
            <a:ext cx="110642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40080" y="6080760"/>
            <a:ext cx="292608" cy="292608"/>
          </a:xfrm>
          <a:prstGeom prst="ellipse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40080" y="60807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1051560" y="605332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Export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4297680" y="6053328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BullMQ archiver zip · Export polling presigned URL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VDT Zero-Trust DMS  ·  Capstone 2026  ·  Slide 10/25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04c · Nhóm 5 + Bonus — Security/Compliance + Templates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luồng (21-26)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411480"/>
            <a:ext cx="73152" cy="457200"/>
          </a:xfrm>
          <a:prstGeom prst="rect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54480"/>
            <a:ext cx="110642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554480"/>
            <a:ext cx="91440" cy="640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691640"/>
            <a:ext cx="365760" cy="365760"/>
          </a:xfrm>
          <a:prstGeom prst="ellipse">
            <a:avLst/>
          </a:prstGeom>
          <a:solidFill>
            <a:srgbClr val="0F2A4D"/>
          </a:solidFill>
          <a:ln w="12700">
            <a:solidFill>
              <a:srgbClr val="0F2A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691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80160" y="16276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ABAC Policy Manager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80160" y="1901952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casbin_rule · enforceEx Simulator · matched rule highlight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331720"/>
            <a:ext cx="110642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2331720"/>
            <a:ext cx="91440" cy="640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2468880"/>
            <a:ext cx="365760" cy="365760"/>
          </a:xfrm>
          <a:prstGeom prst="ellipse">
            <a:avLst/>
          </a:prstGeom>
          <a:solidFill>
            <a:srgbClr val="0F2A4D"/>
          </a:solidFill>
          <a:ln w="12700">
            <a:solidFill>
              <a:srgbClr val="0F2A4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2468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280160" y="24048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Rule Builder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80160" y="2679192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Builder + live JSON preview · Casbin hot-reload sau create/delete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3108960"/>
            <a:ext cx="110642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3108960"/>
            <a:ext cx="91440" cy="640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" y="3246120"/>
            <a:ext cx="365760" cy="365760"/>
          </a:xfrm>
          <a:prstGeom prst="ellipse">
            <a:avLst/>
          </a:prstGeom>
          <a:solidFill>
            <a:srgbClr val="0F2A4D"/>
          </a:solidFill>
          <a:ln w="12700">
            <a:solidFill>
              <a:srgbClr val="0F2A4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280160" y="31821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Ledger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80160" y="3456432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 pagination · filter time/IP/action · row expansion JSON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3886200"/>
            <a:ext cx="110642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48640" y="3886200"/>
            <a:ext cx="91440" cy="640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7240" y="4023360"/>
            <a:ext cx="365760" cy="365760"/>
          </a:xfrm>
          <a:prstGeom prst="ellipse">
            <a:avLst/>
          </a:prstGeom>
          <a:solidFill>
            <a:srgbClr val="0F2A4D"/>
          </a:solidFill>
          <a:ln w="12700">
            <a:solidFill>
              <a:srgbClr val="0F2A4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4023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280160" y="39593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Export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280160" y="4233672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+ Watermark dynamic + SHA-256 footer · CSV streaming UTF-8 BOM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4663440"/>
            <a:ext cx="110642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48640" y="4663440"/>
            <a:ext cx="91440" cy="640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77240" y="4800600"/>
            <a:ext cx="365760" cy="365760"/>
          </a:xfrm>
          <a:prstGeom prst="ellipse">
            <a:avLst/>
          </a:prstGeom>
          <a:solidFill>
            <a:srgbClr val="0F2A4D"/>
          </a:solidFill>
          <a:ln w="12700">
            <a:solidFill>
              <a:srgbClr val="0F2A4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7240" y="4800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280160" y="47365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 Detection Hub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280160" y="5010912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BullMQ integrity-checker · Emergency Lockdown hold 3s · banner đỏ COMPROMISED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48640" y="5440680"/>
            <a:ext cx="110642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48640" y="5440680"/>
            <a:ext cx="91440" cy="6400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77240" y="5577840"/>
            <a:ext cx="365760" cy="365760"/>
          </a:xfrm>
          <a:prstGeom prst="ellipse">
            <a:avLst/>
          </a:prstGeom>
          <a:solidFill>
            <a:srgbClr val="0F2A4D"/>
          </a:solidFill>
          <a:ln w="12700">
            <a:solidFill>
              <a:srgbClr val="0F2A4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77240" y="5577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280160" y="55138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Templates (Bonus)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1280160" y="5788152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Materialization · cascade rename/delete · locked guard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VDT Zero-Trust DMS  ·  Capstone 2026  ·  Slide 11/25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05a · ABAC + Casbin Policy Engine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quyền dựa trên thuộc tính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411480"/>
            <a:ext cx="73152" cy="457200"/>
          </a:xfrm>
          <a:prstGeom prst="rect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54480"/>
            <a:ext cx="530352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69164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Câu hỏi ABAC trả lời: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2148840"/>
            <a:ext cx="4846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 có role X, phòng ban Y, clearance Z, có được làm action A với resource R trong project P vào lúc T không?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33832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Casbin: RBAC + keyMatchPath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3749040"/>
            <a:ext cx="4846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 = g(r.sub, p.sub)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&amp;&amp; keyMatchPath(r.obj, p.obj)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&amp;&amp; (r.act == p.act || p.act == "*")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50292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 Prisma → bảng casbin_rule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539496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Hot-reload sau mỗi addPolicy/removePolicy. Cache 5 phút TTL per user qua Redis abac:cache:&lt;uid&gt;.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554480"/>
            <a:ext cx="5440680" cy="4572000"/>
          </a:xfrm>
          <a:prstGeom prst="rect">
            <a:avLst/>
          </a:prstGeom>
          <a:solidFill>
            <a:srgbClr val="0F2A4D"/>
          </a:solidFill>
          <a:ln w="12700">
            <a:solidFill>
              <a:srgbClr val="0F2A4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16916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 dụ luật thực tế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0" y="2194560"/>
            <a:ext cx="512064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p, role_admin, /*, *           # toàn quyền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g, &lt;admin_uid&gt;, role_admin     # gán user → role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p, role_pm_&lt;pid&gt;, /api/v1/projects/&lt;pid&gt;/*, *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g, &lt;pm_uid&gt;, role_pm_&lt;pid&gt;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p, role_reviewer_&lt;pid&gt;, /documents/*/review, POST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g, &lt;reviewer_uid&gt;, role_reviewer_&lt;pid&gt;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 Deny (FR-4.1.3): không match → DENY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VDT Zero-Trust DMS  ·  Capstone 2026  ·  Slide 12/25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05b · Hash Chaining Audit Logs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Cơ chế chống tampering chuẩn Enterprise (FR-5.2)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73152" cy="457200"/>
          </a:xfrm>
          <a:prstGeom prst="rect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828800"/>
            <a:ext cx="2377440" cy="1828800"/>
          </a:xfrm>
          <a:prstGeom prst="rect">
            <a:avLst/>
          </a:prstGeom>
          <a:solidFill>
            <a:srgbClr val="1E3A5F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9202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#1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22860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prev_hash: NULL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" y="2560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action: LOGIN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22960" y="28803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current_hash: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22960" y="31546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SHA256(prev||row)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108960" y="2743200"/>
            <a:ext cx="365760" cy="0"/>
          </a:xfrm>
          <a:prstGeom prst="line">
            <a:avLst/>
          </a:prstGeom>
          <a:noFill/>
          <a:ln w="25400">
            <a:solidFill>
              <a:srgbClr val="E60012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474720" y="1828800"/>
            <a:ext cx="2377440" cy="1828800"/>
          </a:xfrm>
          <a:prstGeom prst="rect">
            <a:avLst/>
          </a:prstGeom>
          <a:solidFill>
            <a:srgbClr val="1E3A5F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0" y="19202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#2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566160" y="22860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prev_hash: ...1A2B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566160" y="2560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action: LOGIN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566160" y="28803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current_hash: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566160" y="31546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SHA256(prev||row)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852160" y="2743200"/>
            <a:ext cx="365760" cy="0"/>
          </a:xfrm>
          <a:prstGeom prst="line">
            <a:avLst/>
          </a:prstGeom>
          <a:noFill/>
          <a:ln w="25400">
            <a:solidFill>
              <a:srgbClr val="E60012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217920" y="1828800"/>
            <a:ext cx="2377440" cy="1828800"/>
          </a:xfrm>
          <a:prstGeom prst="rect">
            <a:avLst/>
          </a:prstGeom>
          <a:solidFill>
            <a:srgbClr val="1E3A5F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0" y="19202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#3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309360" y="22860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prev_hash: ...2A2B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309360" y="2560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action: LOGIN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309360" y="28803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current_hash: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309360" y="31546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SHA256(prev||row)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8595360" y="2743200"/>
            <a:ext cx="365760" cy="0"/>
          </a:xfrm>
          <a:prstGeom prst="line">
            <a:avLst/>
          </a:prstGeom>
          <a:noFill/>
          <a:ln w="25400">
            <a:solidFill>
              <a:srgbClr val="E60012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8961120" y="1828800"/>
            <a:ext cx="2377440" cy="1828800"/>
          </a:xfrm>
          <a:prstGeom prst="rect">
            <a:avLst/>
          </a:prstGeom>
          <a:solidFill>
            <a:srgbClr val="1E3A5F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961120" y="19202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052560" y="2651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tiếp...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48640" y="4297680"/>
            <a:ext cx="3703320" cy="1645920"/>
          </a:xfrm>
          <a:prstGeom prst="rect">
            <a:avLst/>
          </a:prstGeom>
          <a:solidFill>
            <a:srgbClr val="1E3A5F"/>
          </a:solidFill>
          <a:ln w="12700">
            <a:solidFill>
              <a:srgbClr val="0F2A4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8640" y="4297680"/>
            <a:ext cx="3703320" cy="457200"/>
          </a:xfrm>
          <a:prstGeom prst="rect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5800" y="436168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Tầng 1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85800" y="48006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Chaining trigger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85800" y="525780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compute_audit_hash() tính SHA256 trước INSERT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370832" y="4297680"/>
            <a:ext cx="3703320" cy="1645920"/>
          </a:xfrm>
          <a:prstGeom prst="rect">
            <a:avLst/>
          </a:prstGeom>
          <a:solidFill>
            <a:srgbClr val="1E3A5F"/>
          </a:solidFill>
          <a:ln w="12700">
            <a:solidFill>
              <a:srgbClr val="0F2A4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370832" y="4297680"/>
            <a:ext cx="3703320" cy="457200"/>
          </a:xfrm>
          <a:prstGeom prst="rect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07992" y="436168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Tầng 2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507992" y="48006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 trigger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507992" y="525780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prevent_audit_mutation() chặn UPDATE/DELETE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8193024" y="4297680"/>
            <a:ext cx="3703320" cy="1645920"/>
          </a:xfrm>
          <a:prstGeom prst="rect">
            <a:avLst/>
          </a:prstGeom>
          <a:solidFill>
            <a:srgbClr val="1E3A5F"/>
          </a:solidFill>
          <a:ln w="12700">
            <a:solidFill>
              <a:srgbClr val="0F2A4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193024" y="4297680"/>
            <a:ext cx="3703320" cy="457200"/>
          </a:xfrm>
          <a:prstGeom prst="rect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330184" y="436168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Tầng 3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8330184" y="48006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BullMQ scanner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8330184" y="525780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integrity-checker keyset paginate verify mỗi 1000 row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VDT Zero-Trust DMS  ·  Capstone 2026  ·  Slide 13/25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05c · SSE-S3 AES-256 Encryption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 hóa file lưu trữ MinIO (NFR-1.2)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411480"/>
            <a:ext cx="73152" cy="457200"/>
          </a:xfrm>
          <a:prstGeom prst="rect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54480"/>
            <a:ext cx="548640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0F2A4D"/>
          </a:solidFill>
          <a:ln w="12700">
            <a:solidFill>
              <a:srgbClr val="0F2A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1783080"/>
            <a:ext cx="4526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upload file qua multer memoryStorage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77240" y="2606040"/>
            <a:ext cx="457200" cy="457200"/>
          </a:xfrm>
          <a:prstGeom prst="ellipse">
            <a:avLst/>
          </a:prstGeom>
          <a:solidFill>
            <a:srgbClr val="0F2A4D"/>
          </a:solidFill>
          <a:ln w="12700">
            <a:solidFill>
              <a:srgbClr val="0F2A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2560320"/>
            <a:ext cx="4526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gọi PutObjectCommand với ServerSideEncryption: "AES256"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77240" y="3383280"/>
            <a:ext cx="457200" cy="457200"/>
          </a:xfrm>
          <a:prstGeom prst="ellipse">
            <a:avLst/>
          </a:prstGeom>
          <a:solidFill>
            <a:srgbClr val="0F2A4D"/>
          </a:solidFill>
          <a:ln w="12700">
            <a:solidFill>
              <a:srgbClr val="0F2A4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71600" y="3337560"/>
            <a:ext cx="4526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MinIO mã hóa AES-256 trước khi ghi disk (KMS single-key)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77240" y="4160520"/>
            <a:ext cx="457200" cy="457200"/>
          </a:xfrm>
          <a:prstGeom prst="ellipse">
            <a:avLst/>
          </a:prstGeom>
          <a:solidFill>
            <a:srgbClr val="0F2A4D"/>
          </a:solidFill>
          <a:ln w="12700">
            <a:solidFill>
              <a:srgbClr val="0F2A4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71600" y="4114800"/>
            <a:ext cx="4526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Khi download: MinIO decrypt + trả presigned URL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77240" y="4937760"/>
            <a:ext cx="457200" cy="457200"/>
          </a:xfrm>
          <a:prstGeom prst="ellipse">
            <a:avLst/>
          </a:prstGeom>
          <a:solidFill>
            <a:srgbClr val="0F2A4D"/>
          </a:solidFill>
          <a:ln w="12700">
            <a:solidFill>
              <a:srgbClr val="0F2A4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4937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371600" y="4892040"/>
            <a:ext cx="4526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hit URL qua Nginx /vdt-docs/ proxy (SigV4 verified)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355080" y="1554480"/>
            <a:ext cx="5303520" cy="21945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92240" y="16459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Verify mã hóa thực sự: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92240" y="2011680"/>
            <a:ext cx="502920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docker exec vdt-minio \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cat /data/vdt-docs/v1_*.pdf | head -c 100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Output: binary garbled — không đọc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được nội dung gốc dù copy ra ngoài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mc encrypt info local/vdt-docs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Auto encryption "sse-s3" is enabled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355080" y="3931920"/>
            <a:ext cx="530352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92240" y="40233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Đặc điểm SSE-S3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92240" y="4389120"/>
            <a:ext cx="502920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AES-256-GCM authenticated encryption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KMS single-key, không cần KES standalone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Transparent — backend không phải encrypt thủ công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Bucket policy: auto-encrypt mọi PutObject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Master key (32-byte base64) lưu env MINIO_KMS_SECRET_KEY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VDT Zero-Trust DMS  ·  Capstone 2026  ·  Slide 14/25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05d · JWT + Mass Session Eviction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rotation + blacklist + force logout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411480"/>
            <a:ext cx="73152" cy="457200"/>
          </a:xfrm>
          <a:prstGeom prst="rect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54480"/>
            <a:ext cx="548640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6916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Cơ chế JWT 2 tầng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77240" y="2240280"/>
            <a:ext cx="365760" cy="36576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240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80160" y="21945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Token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80160" y="2514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phút, JWT trong header Bearer + cookie access_token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77240" y="3017520"/>
            <a:ext cx="365760" cy="36576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017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80160" y="2971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Token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80160" y="3291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ngày, HttpOnly cookie path=/api/v1, SameSite=Lax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77240" y="3794760"/>
            <a:ext cx="365760" cy="36576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3794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80160" y="37490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JTI Rotation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80160" y="4069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refresh sinh jti mới + blacklist jti cũ qua Redis SETEX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77240" y="4572000"/>
            <a:ext cx="365760" cy="36576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4572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280160" y="45262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Eviction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280160" y="4846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disable user → DEL session:&lt;uid&gt;:* + SADD blacklist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77240" y="5349240"/>
            <a:ext cx="365760" cy="36576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5349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280160" y="5303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 Logout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280160" y="5623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Trang Security: revoke per-session hoặc Panic Button revoke others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355080" y="1554480"/>
            <a:ext cx="5303520" cy="2194560"/>
          </a:xfrm>
          <a:prstGeom prst="rect">
            <a:avLst/>
          </a:prstGeom>
          <a:solidFill>
            <a:srgbClr val="0F2A4D"/>
          </a:solidFill>
          <a:ln w="12700">
            <a:solidFill>
              <a:srgbClr val="0F2A4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0" y="1691640"/>
            <a:ext cx="5212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 giây</a:t>
            </a:r>
            <a:endParaRPr lang="en-US" sz="6000" dirty="0"/>
          </a:p>
        </p:txBody>
      </p:sp>
      <p:sp>
        <p:nvSpPr>
          <p:cNvPr id="29" name="Text 27"/>
          <p:cNvSpPr/>
          <p:nvPr/>
        </p:nvSpPr>
        <p:spPr>
          <a:xfrm>
            <a:off x="6583680" y="269748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thời gian từ khi Admin disable đến khi user bị đá khỏi mọi tab/thiết bị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355080" y="3931920"/>
            <a:ext cx="5303520" cy="21945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92240" y="40233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Redis key prefix (đa nhiệm):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492240" y="4389120"/>
            <a:ext cx="502920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session:&lt;userId&gt;:&lt;jti&gt;     TTL 7d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blacklist:&lt;jti&gt;            TTL 15m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otp:register:&lt;email&gt;       TTL 5m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abac:cache:&lt;userId&gt;        TTL 5m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doc:lock:&lt;docId&gt;           TTL 2h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user:download_freq:&lt;uid&gt;   ZSET 60s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system:lockdown            Manual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VDT Zero-Trust DMS  ·  Capstone 2026  ·  Slide 15/25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06a · Document FSM Workflow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4 trạng thái với transition kiểm soát chặt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411480"/>
            <a:ext cx="73152" cy="457200"/>
          </a:xfrm>
          <a:prstGeom prst="rect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834640"/>
            <a:ext cx="2194560" cy="137160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29718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14400" y="35204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 nháp · Contributor sửa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931920" y="2834640"/>
            <a:ext cx="2194560" cy="13716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931920" y="29718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UNDER_REVIEW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931920" y="35204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Chờ phê duyệt · lock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949440" y="2834640"/>
            <a:ext cx="2194560" cy="13716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949440" y="29718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RELEASED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949440" y="35204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Đã phê duyệt · SSOT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966960" y="2834640"/>
            <a:ext cx="2194560" cy="137160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966960" y="29718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ARCHIVED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9966960" y="35204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Đóng băng · read-only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108960" y="3383280"/>
            <a:ext cx="822960" cy="0"/>
          </a:xfrm>
          <a:prstGeom prst="line">
            <a:avLst/>
          </a:prstGeom>
          <a:noFill/>
          <a:ln w="31750">
            <a:solidFill>
              <a:srgbClr val="0F2A4D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3017520" y="297180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submit-review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26480" y="3383280"/>
            <a:ext cx="822960" cy="0"/>
          </a:xfrm>
          <a:prstGeom prst="line">
            <a:avLst/>
          </a:prstGeom>
          <a:noFill/>
          <a:ln w="31750">
            <a:solidFill>
              <a:srgbClr val="16A34A"/>
            </a:solidFill>
            <a:prstDash val="solid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6035040" y="297180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144000" y="3383280"/>
            <a:ext cx="822960" cy="0"/>
          </a:xfrm>
          <a:prstGeom prst="line">
            <a:avLst/>
          </a:prstGeom>
          <a:noFill/>
          <a:ln w="317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9052560" y="297180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Archive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86400" y="4754880"/>
            <a:ext cx="-1554480" cy="0"/>
          </a:xfrm>
          <a:prstGeom prst="line">
            <a:avLst/>
          </a:prstGeom>
          <a:noFill/>
          <a:ln w="31750">
            <a:solidFill>
              <a:srgbClr val="E60012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5486400" y="4206240"/>
            <a:ext cx="0" cy="548640"/>
          </a:xfrm>
          <a:prstGeom prst="line">
            <a:avLst/>
          </a:prstGeom>
          <a:noFill/>
          <a:ln w="31750">
            <a:solidFill>
              <a:srgbClr val="E6001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931920" y="4206240"/>
            <a:ext cx="0" cy="548640"/>
          </a:xfrm>
          <a:prstGeom prst="line">
            <a:avLst/>
          </a:prstGeom>
          <a:noFill/>
          <a:ln w="31750">
            <a:solidFill>
              <a:srgbClr val="E6001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0" y="49377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00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(comment ≥ 10 chars) + giải phóng lock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554480" y="2834640"/>
            <a:ext cx="0" cy="-731520"/>
          </a:xfrm>
          <a:prstGeom prst="line">
            <a:avLst/>
          </a:prstGeom>
          <a:noFill/>
          <a:ln w="25400">
            <a:solidFill>
              <a:srgbClr val="0F2A4D"/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>
            <a:off x="1554480" y="2103120"/>
            <a:ext cx="457200" cy="0"/>
          </a:xfrm>
          <a:prstGeom prst="line">
            <a:avLst/>
          </a:prstGeom>
          <a:noFill/>
          <a:ln w="25400">
            <a:solidFill>
              <a:srgbClr val="0F2A4D"/>
            </a:solidFill>
            <a:prstDash val="dash"/>
            <a:tailEnd type="triangle"/>
          </a:ln>
        </p:spPr>
      </p:sp>
      <p:sp>
        <p:nvSpPr>
          <p:cNvPr id="29" name="Text 27"/>
          <p:cNvSpPr/>
          <p:nvPr/>
        </p:nvSpPr>
        <p:spPr>
          <a:xfrm>
            <a:off x="1691640" y="1828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F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v_new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48640" y="5577840"/>
            <a:ext cx="11064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7240" y="5650992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 tắc kiểm soát transition (backend-enforced):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77240" y="5943600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Chỉ Contributor/PM được submit-review  ·  • Chỉ Reviewer/PM được Approve/Reject  ·  • RELEASED chỉ project ARCHIVED mới thành ARCHIVED  ·  • Upload version mới → quay về DRAFT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VDT Zero-Trust DMS  ·  Capstone 2026  ·  Slide 16/25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06b · Diff Engine Microservice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FastAPI vi dịch vụ — Luồng 18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411480"/>
            <a:ext cx="73152" cy="457200"/>
          </a:xfrm>
          <a:prstGeom prst="rect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54480"/>
            <a:ext cx="110642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69164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so sánh 2 phiên bản tài liệu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77240" y="2286000"/>
            <a:ext cx="1828800" cy="10058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377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27432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 2 ver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606040" y="2788920"/>
            <a:ext cx="36576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971800" y="2286000"/>
            <a:ext cx="1828800" cy="1005840"/>
          </a:xfrm>
          <a:prstGeom prst="rect">
            <a:avLst/>
          </a:prstGeom>
          <a:solidFill>
            <a:srgbClr val="0F2A4D"/>
          </a:solidFill>
          <a:ln w="12700">
            <a:solidFill>
              <a:srgbClr val="0F2A4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71800" y="2377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971800" y="27432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 2 URL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00600" y="2788920"/>
            <a:ext cx="36576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166360" y="2286000"/>
            <a:ext cx="1828800" cy="10058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66360" y="2377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166360" y="27432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raw_text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995160" y="2788920"/>
            <a:ext cx="36576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360920" y="2286000"/>
            <a:ext cx="1828800" cy="1005840"/>
          </a:xfrm>
          <a:prstGeom prst="rect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60920" y="2377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 Engine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360920" y="27432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difflib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189720" y="2788920"/>
            <a:ext cx="36576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555480" y="2286000"/>
            <a:ext cx="1828800" cy="10058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555480" y="2377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555480" y="27432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delta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48640" y="3840480"/>
            <a:ext cx="5486400" cy="23774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393192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Diff Engine (Python FastAPI)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77240" y="4297680"/>
            <a:ext cx="52120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difflib import SequenceMatcher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@app.post("/diff")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def diff(req: DiffReq):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t1 = await fetch(req.url1)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t2 = await fetch(req.url2)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sm = SequenceMatcher(None, t1, t2)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ops = sm.get_opcodes()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 deltas: ops_to_json(ops) }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172200" y="3840480"/>
            <a:ext cx="54406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0" y="39319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Đặc điểm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400800" y="4297680"/>
            <a:ext cx="51206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Keep-alive container — không spawn process per request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Tách dịch vụ Python vì difflib chuẩn hơn diff-match-patch Node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Backend gen 2 presigned URL internal (host minio:9000)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Diff Engine HTTP GET raw_text → so sánh → trả JSON deltas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Frontend toggle Original-view (iframe MinIO) ↔ Text-diff (split-view delta)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VDT Zero-Trust DMS  ·  Capstone 2026  ·  Slide 17/25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06c · BullMQ Workers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background queue tách container worker riêng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411480"/>
            <a:ext cx="73152" cy="457200"/>
          </a:xfrm>
          <a:prstGeom prst="rect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54480"/>
            <a:ext cx="553212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554480"/>
            <a:ext cx="5532120" cy="548640"/>
          </a:xfrm>
          <a:prstGeom prst="rect">
            <a:avLst/>
          </a:prstGeom>
          <a:solidFill>
            <a:srgbClr val="0F2A4D"/>
          </a:solidFill>
          <a:ln w="12700">
            <a:solidFill>
              <a:srgbClr val="0F2A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60020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📑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417320" y="162763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text-extraction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219456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Bóc tách raw_text từ PDF/DOCX/MD/TXT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265176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 Upload tài liệu &lt; 15MB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310896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Stack: pdf-parse · mammoth · raw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554480"/>
            <a:ext cx="553212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0" y="1554480"/>
            <a:ext cx="5532120" cy="548640"/>
          </a:xfrm>
          <a:prstGeom prst="rect">
            <a:avLst/>
          </a:prstGeom>
          <a:solidFill>
            <a:srgbClr val="0F2A4D"/>
          </a:solidFill>
          <a:ln w="12700">
            <a:solidFill>
              <a:srgbClr val="0F2A4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160020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📧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7086600" y="162763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mailer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00800" y="219456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Gửi email OTP + kết quả review + xin trả khóa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0" y="265176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 Register · Approve · Reject · Lock request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0" y="310896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Stack: Nodemailer · Gmail SMTP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840480"/>
            <a:ext cx="553212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8640" y="3840480"/>
            <a:ext cx="5532120" cy="548640"/>
          </a:xfrm>
          <a:prstGeom prst="rect">
            <a:avLst/>
          </a:prstGeom>
          <a:solidFill>
            <a:srgbClr val="0F2A4D"/>
          </a:solidFill>
          <a:ln w="12700">
            <a:solidFill>
              <a:srgbClr val="0F2A4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388620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📦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1417320" y="391363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release-export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31520" y="448056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Nén zip release package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31520" y="493776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 PM bấm Export trên Compliance page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31520" y="539496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Stack: archiver · stream · MinIO PUT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217920" y="3840480"/>
            <a:ext cx="553212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217920" y="3840480"/>
            <a:ext cx="5532120" cy="548640"/>
          </a:xfrm>
          <a:prstGeom prst="rect">
            <a:avLst/>
          </a:prstGeom>
          <a:solidFill>
            <a:srgbClr val="0F2A4D"/>
          </a:solidFill>
          <a:ln w="12700">
            <a:solidFill>
              <a:srgbClr val="0F2A4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55080" y="388620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🛡️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7086600" y="391363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integrity-scan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6400800" y="448056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Hash Chain audit_logs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400800" y="493776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 Admin bấm "Quét toàn bộ" trên Tamper Hub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00800" y="539496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Stack: Keyset paginate · SHA256 recompute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VDT Zero-Trust DMS  ·  Capstone 2026  ·  Slide 18/25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05e · Anomaly Detection + Emergency Lockdown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Phòng vệ chủ động chống lạm dụng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411480"/>
            <a:ext cx="73152" cy="457200"/>
          </a:xfrm>
          <a:prstGeom prst="rect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54480"/>
            <a:ext cx="548640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554480"/>
            <a:ext cx="91440" cy="4572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916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Anomaly Detection (FR-5.3.1)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205740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Sliding window 1 phút qua Redis ZSET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2468880"/>
            <a:ext cx="51206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ZADD user:download_freq:&lt;uid&gt;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&lt;timestamp_ms&gt; "&lt;docId&gt;:&lt;ts&gt;"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ZREMRANGEBYSCORE user:download_freq:&lt;uid&gt;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0 (now - 60_000)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ZCARD user:download_freq:&lt;uid&gt;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count download trong 60s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44348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Nếu count &gt; 10 (env ANOMALY_DOWNLOAD_THRESHOLD):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7240" y="4800600"/>
            <a:ext cx="5120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HTTP 429 Too Many Requests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INSERT audit log SECURITY_ALERT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Tamper Hub UI bắt cảnh báo realtime (polling 5s)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72200" y="1554480"/>
            <a:ext cx="544068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72200" y="1554480"/>
            <a:ext cx="91440" cy="4572000"/>
          </a:xfrm>
          <a:prstGeom prst="rect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16916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Emergency Lockdown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0" y="205740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Panic Button — toàn hệ thống 503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0" y="2514600"/>
            <a:ext cx="320040" cy="320040"/>
          </a:xfrm>
          <a:prstGeom prst="ellipse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25146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12280" y="246888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Hold-to-confirm 3 giây trên Tamper Hub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0" y="3063240"/>
            <a:ext cx="320040" cy="320040"/>
          </a:xfrm>
          <a:prstGeom prst="ellipse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30632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12280" y="301752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Yêu cầu PIN (env EMERGENCY_PIN) + lý do ≥10 chars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0" y="3611880"/>
            <a:ext cx="320040" cy="320040"/>
          </a:xfrm>
          <a:prstGeom prst="ellipse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0" y="36118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12280" y="356616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SET Redis system:lockdown = 1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00800" y="4160520"/>
            <a:ext cx="320040" cy="320040"/>
          </a:xfrm>
          <a:prstGeom prst="ellipse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0" y="41605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812280" y="411480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Lockdown503Guard chặn mọi request → trả 503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00800" y="4709160"/>
            <a:ext cx="320040" cy="320040"/>
          </a:xfrm>
          <a:prstGeom prst="ellipse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0" y="47091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812280" y="466344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Trừ IP whitelist (LOCKDOWN_SAFE_IP) — chỉ Admin trên IP đó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400800" y="5257800"/>
            <a:ext cx="320040" cy="320040"/>
          </a:xfrm>
          <a:prstGeom prst="ellipse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0" y="52578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812280" y="521208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lockdown: DELETE /lockdown từ safe IP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VDT Zero-Trust DMS  ·  Capstone 2026  ·  Slide 19/25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Triển khai 1-lệnh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v2 — NFR-3.2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411480"/>
            <a:ext cx="73152" cy="457200"/>
          </a:xfrm>
          <a:prstGeom prst="rect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54480"/>
            <a:ext cx="11064240" cy="11887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64592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make up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822960" y="228600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auto: gen TLS cert + .env + docker compose up -d --build → 7 containers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017520"/>
            <a:ext cx="2697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3017520"/>
            <a:ext cx="2697480" cy="365760"/>
          </a:xfrm>
          <a:prstGeom prst="rect">
            <a:avLst/>
          </a:prstGeom>
          <a:solidFill>
            <a:srgbClr val="0F2A4D"/>
          </a:solidFill>
          <a:ln w="12700">
            <a:solidFill>
              <a:srgbClr val="0F2A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054096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vdt-nginx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34747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Port: 80/443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384048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TLS 1.3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383280" y="3017520"/>
            <a:ext cx="2697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383280" y="3017520"/>
            <a:ext cx="2697480" cy="3657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0" y="3054096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vdt-frontend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74720" y="34747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Port: 80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74720" y="384048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static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17920" y="3017520"/>
            <a:ext cx="2697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17920" y="3017520"/>
            <a:ext cx="2697480" cy="365760"/>
          </a:xfrm>
          <a:prstGeom prst="rect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9360" y="3054096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vdt-api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309360" y="34747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Port: 3000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09360" y="384048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NestJS API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052560" y="3017520"/>
            <a:ext cx="2697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052560" y="3017520"/>
            <a:ext cx="2697480" cy="365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0" y="3054096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vdt-worker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144000" y="34747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Port: —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144000" y="384048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BullMQ 4 queues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4526280"/>
            <a:ext cx="2697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48640" y="4526280"/>
            <a:ext cx="2697480" cy="365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4562856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vdt-diff-engine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40080" y="498348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Port: 8000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0080" y="53492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FastAPI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383280" y="4526280"/>
            <a:ext cx="2697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383280" y="4526280"/>
            <a:ext cx="2697480" cy="3657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74720" y="4562856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vdt-redis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3474720" y="498348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Port: 6379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474720" y="53492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+ Queue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217920" y="4526280"/>
            <a:ext cx="2697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217920" y="4526280"/>
            <a:ext cx="2697480" cy="3657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09360" y="4562856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vdt-minio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309360" y="498348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Port: 9000/9001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309360" y="53492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+ Console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9052560" y="4526280"/>
            <a:ext cx="260604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0F2A4D"/>
            </a:solidFill>
            <a:prstDash val="dash"/>
          </a:ln>
        </p:spPr>
      </p:sp>
      <p:sp>
        <p:nvSpPr>
          <p:cNvPr id="44" name="Text 42"/>
          <p:cNvSpPr/>
          <p:nvPr/>
        </p:nvSpPr>
        <p:spPr>
          <a:xfrm>
            <a:off x="9098280" y="461772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Supabase Cloud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9098280" y="498348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Pooler 6543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9098280" y="534924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managed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VDT Zero-Trust DMS  ·  Capstone 2026  ·  Slide 20/25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08a · NFR đã đạt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6/6 yêu cầu phi chức năng verified E2E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411480"/>
            <a:ext cx="73152" cy="457200"/>
          </a:xfrm>
          <a:prstGeom prst="rect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54480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554480"/>
            <a:ext cx="1097280" cy="65836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6002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NFR-1.1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9202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PASS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828800" y="1600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1.3 enforced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828800" y="1920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ssl_protocols TLSv1.3, HSTS 2 năm, HTTP → 301 HTTPS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669280" y="164592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openssl s_client báo TLS_AES_256_GCM_SHA384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313432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2313432"/>
            <a:ext cx="1097280" cy="65836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3591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NFR-1.2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26791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PASS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828800" y="23591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SSE-S3 AES-256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828800" y="26791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MinIO KMS single-key, bucket auto-encrypt, mọi PutObject với ServerSideEncryption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669280" y="2404872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docker exec MinIO cat raw file → binary garbled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072384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072384"/>
            <a:ext cx="1097280" cy="65836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11810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NFR-1.3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343814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PASS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828800" y="311810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logs append-only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828800" y="34381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trigger prevent_audit_mutation chặn UPDATE/DELETE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669280" y="3163824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Bypass cần superuser SET session_replication_role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3831336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8640" y="3831336"/>
            <a:ext cx="1097280" cy="65836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387705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NFR-2.2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48640" y="419709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PASS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828800" y="387705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diff offload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828800" y="419709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BullMQ text-extraction queue worker container riêng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669280" y="3922776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Upload &lt; 15MB tự enqueue, worker bóc text 136 chars/sec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48640" y="4590288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48640" y="4590288"/>
            <a:ext cx="1097280" cy="65836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463600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NFR-3.1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48640" y="4956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PASS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828800" y="46360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Monolith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1828800" y="49560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@Global InfraModule + 12 feature modules tách rời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669280" y="4681728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Backend build &amp; start trong 1 process, mỗi module độc lập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48640" y="5349240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48640" y="5349240"/>
            <a:ext cx="1097280" cy="65836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8640" y="53949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NFR-3.2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48640" y="57150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PASS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1828800" y="5394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1-command deploy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1828800" y="5715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up -d --build → 7 service, dependsOn healthcheck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669280" y="544068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make up → 7/7 service Up sau ~30s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VDT Zero-Trust DMS  ·  Capstone 2026  ·  Slide 21/25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08b · Demo Screenshots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màn hình tiêu biểu — chèn ảnh thật khi present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411480"/>
            <a:ext cx="73152" cy="457200"/>
          </a:xfrm>
          <a:prstGeom prst="rect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54480"/>
            <a:ext cx="3611880" cy="2148840"/>
          </a:xfrm>
          <a:prstGeom prst="rect">
            <a:avLst/>
          </a:prstGeom>
          <a:solidFill>
            <a:srgbClr val="FFFFFF"/>
          </a:solidFill>
          <a:ln w="19050">
            <a:solidFill>
              <a:srgbClr val="0F2A4D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731520" y="1737360"/>
            <a:ext cx="3246120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737360"/>
            <a:ext cx="3246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 ]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10896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Tamper Hub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338328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Banner SECURE/COMPROMISED + Quét toàn bộ + Lockdown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43400" y="1554480"/>
            <a:ext cx="3611880" cy="2148840"/>
          </a:xfrm>
          <a:prstGeom prst="rect">
            <a:avLst/>
          </a:prstGeom>
          <a:solidFill>
            <a:srgbClr val="FFFFFF"/>
          </a:solidFill>
          <a:ln w="19050">
            <a:solidFill>
              <a:srgbClr val="0F2A4D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4526280" y="1737360"/>
            <a:ext cx="3246120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26280" y="1737360"/>
            <a:ext cx="3246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 ]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26280" y="310896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Policy Builder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26280" y="338328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Triple-panel · Live JSON · Simulator highlight rule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138160" y="1554480"/>
            <a:ext cx="3611880" cy="2148840"/>
          </a:xfrm>
          <a:prstGeom prst="rect">
            <a:avLst/>
          </a:prstGeom>
          <a:solidFill>
            <a:srgbClr val="FFFFFF"/>
          </a:solidFill>
          <a:ln w="19050">
            <a:solidFill>
              <a:srgbClr val="0F2A4D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8321040" y="1737360"/>
            <a:ext cx="3246120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21040" y="1737360"/>
            <a:ext cx="3246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 ]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321040" y="310896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Compliance Export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321040" y="338328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datetime preset + scope ALL/SECURITY · PDF watermark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931920"/>
            <a:ext cx="3611880" cy="2148840"/>
          </a:xfrm>
          <a:prstGeom prst="rect">
            <a:avLst/>
          </a:prstGeom>
          <a:solidFill>
            <a:srgbClr val="FFFFFF"/>
          </a:solidFill>
          <a:ln w="19050">
            <a:solidFill>
              <a:srgbClr val="0F2A4D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731520" y="4114800"/>
            <a:ext cx="3246120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4114800"/>
            <a:ext cx="3246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 ]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31520" y="548640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📂 Document Detail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31520" y="576072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tabs · Online MD editor · Version Timeline · Diff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343400" y="3931920"/>
            <a:ext cx="3611880" cy="2148840"/>
          </a:xfrm>
          <a:prstGeom prst="rect">
            <a:avLst/>
          </a:prstGeom>
          <a:solidFill>
            <a:srgbClr val="FFFFFF"/>
          </a:solidFill>
          <a:ln w="19050">
            <a:solidFill>
              <a:srgbClr val="0F2A4D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4526280" y="4114800"/>
            <a:ext cx="3246120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26280" y="4114800"/>
            <a:ext cx="3246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 ]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526280" y="548640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Project Team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526280" y="576072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role dropdown · AddMember Modal · Self-Removal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138160" y="3931920"/>
            <a:ext cx="3611880" cy="2148840"/>
          </a:xfrm>
          <a:prstGeom prst="rect">
            <a:avLst/>
          </a:prstGeom>
          <a:solidFill>
            <a:srgbClr val="FFFFFF"/>
          </a:solidFill>
          <a:ln w="19050">
            <a:solidFill>
              <a:srgbClr val="0F2A4D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8321040" y="4114800"/>
            <a:ext cx="3246120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321040" y="4114800"/>
            <a:ext cx="3246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 ]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321040" y="548640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Dashboard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321040" y="576072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Locks card + Trả khóa inline · TTL countdown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VDT Zero-Trust DMS  ·  Capstone 2026  ·  Slide 22/25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08c · Tổng kết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Số liệu hoàn thiện đồ án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411480"/>
            <a:ext cx="73152" cy="457200"/>
          </a:xfrm>
          <a:prstGeom prst="rect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54480"/>
            <a:ext cx="26974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554480"/>
            <a:ext cx="2697480" cy="10972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82880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26/26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548640" y="269748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Luồng nghiệp vụ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30632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core + 1 bonus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83280" y="1554480"/>
            <a:ext cx="26974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83280" y="1554480"/>
            <a:ext cx="2697480" cy="109728"/>
          </a:xfrm>
          <a:prstGeom prst="rect">
            <a:avLst/>
          </a:prstGeom>
          <a:solidFill>
            <a:srgbClr val="0F2A4D"/>
          </a:solidFill>
          <a:ln w="12700">
            <a:solidFill>
              <a:srgbClr val="0F2A4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182880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F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25+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3383280" y="269748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Frontend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74720" y="30632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phụ trợ (Public profile, Policy guide, SSO callback...)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17920" y="1554480"/>
            <a:ext cx="26974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0" y="1554480"/>
            <a:ext cx="2697480" cy="109728"/>
          </a:xfrm>
          <a:prstGeom prst="rect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182880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600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6217920" y="269748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modules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309360" y="30632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Monolith NestJS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052560" y="1554480"/>
            <a:ext cx="26974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052560" y="1554480"/>
            <a:ext cx="2697480" cy="1097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052560" y="182880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7+1</a:t>
            </a:r>
            <a:endParaRPr lang="en-US" sz="4400" dirty="0"/>
          </a:p>
        </p:txBody>
      </p:sp>
      <p:sp>
        <p:nvSpPr>
          <p:cNvPr id="23" name="Text 21"/>
          <p:cNvSpPr/>
          <p:nvPr/>
        </p:nvSpPr>
        <p:spPr>
          <a:xfrm>
            <a:off x="9052560" y="269748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Docker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144000" y="30632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compose + Supabase cloud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3749040"/>
            <a:ext cx="26974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48640" y="3749040"/>
            <a:ext cx="2697480" cy="1097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402336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6/6</a:t>
            </a:r>
            <a:endParaRPr lang="en-US" sz="4400" dirty="0"/>
          </a:p>
        </p:txBody>
      </p:sp>
      <p:sp>
        <p:nvSpPr>
          <p:cNvPr id="28" name="Text 26"/>
          <p:cNvSpPr/>
          <p:nvPr/>
        </p:nvSpPr>
        <p:spPr>
          <a:xfrm>
            <a:off x="548640" y="489204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 đã đạt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40080" y="525780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TLS/SSE/Append-only/Async/Modular/Deploy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383280" y="3749040"/>
            <a:ext cx="26974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383280" y="3749040"/>
            <a:ext cx="2697480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83280" y="402336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4400" dirty="0"/>
          </a:p>
        </p:txBody>
      </p:sp>
      <p:sp>
        <p:nvSpPr>
          <p:cNvPr id="33" name="Text 31"/>
          <p:cNvSpPr/>
          <p:nvPr/>
        </p:nvSpPr>
        <p:spPr>
          <a:xfrm>
            <a:off x="3383280" y="489204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đã fix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3474720" y="525780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Tất cả documented trong PROGRESS.md §6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217920" y="3749040"/>
            <a:ext cx="26974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217920" y="3749040"/>
            <a:ext cx="2697480" cy="10972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17920" y="402336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</a:t>
            </a:r>
            <a:endParaRPr lang="en-US" sz="4400" dirty="0"/>
          </a:p>
        </p:txBody>
      </p:sp>
      <p:sp>
        <p:nvSpPr>
          <p:cNvPr id="38" name="Text 36"/>
          <p:cNvSpPr/>
          <p:nvPr/>
        </p:nvSpPr>
        <p:spPr>
          <a:xfrm>
            <a:off x="6217920" y="489204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endpoints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309360" y="525780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+ multipart upload + streaming export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9052560" y="3749040"/>
            <a:ext cx="26974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9052560" y="3749040"/>
            <a:ext cx="2697480" cy="109728"/>
          </a:xfrm>
          <a:prstGeom prst="rect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052560" y="402336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600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5+</a:t>
            </a:r>
            <a:endParaRPr lang="en-US" sz="4400" dirty="0"/>
          </a:p>
        </p:txBody>
      </p:sp>
      <p:sp>
        <p:nvSpPr>
          <p:cNvPr id="43" name="Text 41"/>
          <p:cNvSpPr/>
          <p:nvPr/>
        </p:nvSpPr>
        <p:spPr>
          <a:xfrm>
            <a:off x="9052560" y="489204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Bug-fix Sprint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9144000" y="525780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A→B→C→D→E (this report)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VDT Zero-Trust DMS  ·  Capstone 2026  ·  Slide 23/25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08d · Hướng phát triển tiếp theo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sau Capstone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411480"/>
            <a:ext cx="73152" cy="457200"/>
          </a:xfrm>
          <a:prstGeom prst="rect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54480"/>
            <a:ext cx="55321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737360"/>
            <a:ext cx="914400" cy="914400"/>
          </a:xfrm>
          <a:prstGeom prst="ellipse">
            <a:avLst/>
          </a:prstGeom>
          <a:solidFill>
            <a:srgbClr val="0F2A4D"/>
          </a:solidFill>
          <a:ln w="12700">
            <a:solidFill>
              <a:srgbClr val="0F2A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7373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📝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828800" y="173736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Font Unicode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828800" y="2148840"/>
            <a:ext cx="4160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Nhúng DejaVu Sans / Noto Sans vào PDF Audit Export thay vì strip ASCII (hiện "ả" → "?"). Yêu cầu pdf-lib với CustomFontKit.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1554480"/>
            <a:ext cx="55321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0" y="1737360"/>
            <a:ext cx="914400" cy="914400"/>
          </a:xfrm>
          <a:prstGeom prst="ellipse">
            <a:avLst/>
          </a:prstGeom>
          <a:solidFill>
            <a:srgbClr val="0F2A4D"/>
          </a:solidFill>
          <a:ln w="12700">
            <a:solidFill>
              <a:srgbClr val="0F2A4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17373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⏰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7498080" y="173736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ABAC eval-style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498080" y="2148840"/>
            <a:ext cx="4160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Mở rộng Casbin matcher để hỗ trợ điều kiện thời gian (r.ctx.hour &gt;= 8 &amp;&amp; r.ctx.hour &lt;= 18), IP whitelist, geo-location.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108960"/>
            <a:ext cx="55321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31520" y="3291840"/>
            <a:ext cx="914400" cy="914400"/>
          </a:xfrm>
          <a:prstGeom prst="ellipse">
            <a:avLst/>
          </a:prstGeom>
          <a:solidFill>
            <a:srgbClr val="0F2A4D"/>
          </a:solidFill>
          <a:ln w="12700">
            <a:solidFill>
              <a:srgbClr val="0F2A4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2918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🚀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1828800" y="329184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Zip Release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828800" y="3703320"/>
            <a:ext cx="4160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archiver thẳng MinIO PutObject thay vì gom buffer RAM. Quan trọng cho file release &gt; 500MB.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17920" y="3108960"/>
            <a:ext cx="55321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00800" y="3291840"/>
            <a:ext cx="914400" cy="914400"/>
          </a:xfrm>
          <a:prstGeom prst="ellipse">
            <a:avLst/>
          </a:prstGeom>
          <a:solidFill>
            <a:srgbClr val="0F2A4D"/>
          </a:solidFill>
          <a:ln w="12700">
            <a:solidFill>
              <a:srgbClr val="0F2A4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0" y="32918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🔁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7498080" y="329184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Token Grace Window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498080" y="3703320"/>
            <a:ext cx="4160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 phép 5-10s grace cho jti vừa rotation. Hiện 2 tab refresh đồng thời sẽ kích hoạt revokeAllExcept.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4663440"/>
            <a:ext cx="55321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31520" y="4846320"/>
            <a:ext cx="914400" cy="914400"/>
          </a:xfrm>
          <a:prstGeom prst="ellipse">
            <a:avLst/>
          </a:prstGeom>
          <a:solidFill>
            <a:srgbClr val="0F2A4D"/>
          </a:solidFill>
          <a:ln w="12700">
            <a:solidFill>
              <a:srgbClr val="0F2A4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" y="48463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✨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1828800" y="484632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Monaco Editor + Collab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828800" y="5257800"/>
            <a:ext cx="4160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Thay textarea online editor bằng Monaco; thêm WebSocket cho real-time collaborative edit (Operational Transform).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217920" y="4663440"/>
            <a:ext cx="55321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400800" y="4846320"/>
            <a:ext cx="914400" cy="914400"/>
          </a:xfrm>
          <a:prstGeom prst="ellipse">
            <a:avLst/>
          </a:prstGeom>
          <a:solidFill>
            <a:srgbClr val="0F2A4D"/>
          </a:solidFill>
          <a:ln w="12700">
            <a:solidFill>
              <a:srgbClr val="0F2A4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0" y="48463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🌐</a:t>
            </a:r>
            <a:endParaRPr lang="en-US" sz="3000" dirty="0"/>
          </a:p>
        </p:txBody>
      </p:sp>
      <p:sp>
        <p:nvSpPr>
          <p:cNvPr id="33" name="Text 31"/>
          <p:cNvSpPr/>
          <p:nvPr/>
        </p:nvSpPr>
        <p:spPr>
          <a:xfrm>
            <a:off x="7498080" y="484632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 i18n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498080" y="5257800"/>
            <a:ext cx="4160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Tách string Việt sang i18next; thêm bản tiếng Anh + Lào (nội bộ Viettel Đông Dương).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VDT Zero-Trust DMS  ·  Capstone 2026  ·  Slide 24/25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F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201168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9000" dirty="0"/>
          </a:p>
        </p:txBody>
      </p:sp>
      <p:sp>
        <p:nvSpPr>
          <p:cNvPr id="4" name="Text 2"/>
          <p:cNvSpPr/>
          <p:nvPr/>
        </p:nvSpPr>
        <p:spPr>
          <a:xfrm>
            <a:off x="914400" y="32004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i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 Q / A</a:t>
            </a:r>
            <a:endParaRPr lang="en-US" sz="6000" dirty="0"/>
          </a:p>
        </p:txBody>
      </p:sp>
      <p:sp>
        <p:nvSpPr>
          <p:cNvPr id="5" name="Shape 3"/>
          <p:cNvSpPr/>
          <p:nvPr/>
        </p:nvSpPr>
        <p:spPr>
          <a:xfrm>
            <a:off x="914400" y="4297680"/>
            <a:ext cx="3657600" cy="0"/>
          </a:xfrm>
          <a:prstGeom prst="line">
            <a:avLst/>
          </a:prstGeom>
          <a:noFill/>
          <a:ln w="38100">
            <a:solidFill>
              <a:srgbClr val="E6001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44805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VDT Zero-Trust Document Management System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49377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— Viettel Digital Talent 2026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55778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🌐 https://localhost  ·  Demo creds: minhchoi2004@gmail.com / Admin@123456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5943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D:/WEB SEC/  ·  PROGRESS.md  ·  GUIDE.md  ·  reports/BaoCao_VDT_DMS.docx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6492240"/>
            <a:ext cx="103628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25/25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Viettel Digital Talent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VDT Zero-Trust DMS</dc:title>
  <dc:subject>Capstone Demo</dc:subject>
  <dc:creator>VDT Capstone 2026</dc:creator>
  <cp:lastModifiedBy>VDT Capstone 2026</cp:lastModifiedBy>
  <cp:revision>1</cp:revision>
  <dcterms:created xsi:type="dcterms:W3CDTF">2026-06-07T04:44:55Z</dcterms:created>
  <dcterms:modified xsi:type="dcterms:W3CDTF">2026-06-07T04:44:55Z</dcterms:modified>
</cp:coreProperties>
</file>